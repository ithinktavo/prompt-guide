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team. This is a case study — not my work, but work from our colleague Joey that I think is worth studying. The goal today is to extract the techniques and show how you can apply them. Promise upfront: by minute 45 you'll know 12 techniques and have a pattern you can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relatability. Ask the room: 'Show of hands — who has started their FY26 priorities?' Count the hands. Then: 'Who has STARED at a blank priority template for more than 30 minutes?' More hands. Land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the story. Joey's a colleague — we saw this in a session earlier this year. Emphasize the meta-move: he didn't ask AI to write his priorities, he asked AI to help him BUILD A PROMPT that writes priorities. That's the leverage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agenda. Land the payoff at part 4: 'if you only remember one thing, you'll know 12 techniques by minute 45.' Also land that part 6 isn't just Q&amp;A — it's 'what's YOUR first prompt file going to be?'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meta-pattern. This is the ONE insight if they remember nothing else. References (which already exist) + Copilot (which they have) = a prompt file that keeps paying off. Pause here for 3-5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references. Emphasize that NONE of this is new content Joey created — it's all pre-existing. The key move is RECOGNIZING that he had enough raw material to build a prompt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conceptual leverage point. Most people ask AI to 'do the task' — Joey asked AI to 'build a tool that does the task.' That's 10x thinking. The references grounded the AI so it produced something real, not generic.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stats build the 'wow.' 287 lines, 6 phases, 12 techniques — Joey built a legitimately sophisticated tool. Then describe what it does in plain terms so people know the shape before we dive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the seed: this works for lots of things. By the time we finish today, I want each of you to have ONE task in mind from this list (or your own) that you'll template. We'll come back to this at the end for a commitment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priority_builder file. Open in VS Code so people see the markdown. Scroll through the 6 phases. Point out the labels but do NOT dive deep on technique yet — save that for Part 4. Aim for 8-10 minutes here. Come back to this deck when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phases. Land Phase 2.5 as the 'oh interesting' moment — it's where the AI actually reads the user's files. Now we're ready to dive into the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slide. Don't read them all — just say 'here are the 12 we'll walk through. Some you'll recognize, some will be new.' Then jump into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1. Simple, high-leverage. Notice Joey picked SPECIFIC role — not 'helpful AI' but 'career coach and performance management specialist.' The more specific the role, the sharper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2. The single most underused technique. Most people bury the ask in paragraph 3. Joey puts it in the first sentence after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3. This is where Joey's 3 reference files earn their keep. He lifted the frameworks out of those files and put them in the prompt. Audience takeaway: if your domain has a taxonomy or framework, don't assume AI knows it — include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4. This is the backbone of the file. Each phase is a 'mini-prompt' in the chain. If your task is more than 3 steps, don't hope the AI figures it out — name the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5. Notice the subtle move: Joey doesn't say 'ask these 32 questions in order.' He says 'here are 32 possible questions, adapt based on what you hear.' That's the difference between a form and a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6. THIS is the slide that makes audiences lean forward. Joey tells the AI to READ THE USER'S FILES for evidence. This is RAG — retrieval augmented generation — done manually. It means when the AI writes your Business Impact section, the numbers are REAL numbers from YOUR artifacts. Pause here.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7. This is a creative reframing. Instead of asking AI for 'the best version' (which triggers decision paralysis), ask for 3 on a spectrum. You pick faster. You get a better result. Works for any creative task — priorities, emails, architecture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8. Classic few-shot. Joey could have said 'format nicely.' Instead he shows the EXACT skeleton. AI now has a pattern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9. The 'pin cells' option is particularly good — it lets the user keep the 80% they like and regenerate only the 20% that's off. No more 'start over from scratch.'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10. Think about WHERE the output actually goes. If you need machine-readable AND human-readable, ask for both. The AI doesn't mind producing two formats — but it won't do it unless you tell it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11. Cheap to add, disproportionate impact. 5-6 bullets on voice = the entire UX of the interaction shifts. Especially matters for client-facing or HR-adjacent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12. The close of the techniques section. This is the one most teams skip — and it's the highest-leverage addition. Build conversation hooks into every template. Tell the AI when to ask, when to stop, when to offer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what the output looks like. Land that these are REAL, publishable priorities — not generic AI fluff. The Business Impact and Accomplishments are concrete because Phase 2.5 (Artifact Mining) grounded them in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just describe the ROI — quantify it. If 10 managers each save 2.5 hours on priorities twice a year, that's 50 person-hours reclaimed annually from ONE prompt file. Multiply that by 5 templates and the math gets silly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commitment moment. Ask the room: 'What's the ONE recurring task you'll template first?' Give people 30 seconds to think. Then do a quick lightning round — 4-5 people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takeaways. Pause between each one. If they remember nothing else, these three should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 If energy is low, prompt: 'Who's willing to share what task they'd template first?' That typically gets 3-4 hands and sparks more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384048" cy="7315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2194560"/>
            <a:ext cx="384048" cy="7315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2194560"/>
            <a:ext cx="384048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194560"/>
            <a:ext cx="384048" cy="73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1143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Case Study in Prompt Engineering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12 prompting techniques compose into one file — and what that means for your work.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Andres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talk  •  ~60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• 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blank-page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hits it at priority-writing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91440" cy="1645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164592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write my FY26 priorities by Friday. I have the template open. I've been staring at it for 45 minutes.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34290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manager, every 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7548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everything you did this cycle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754880"/>
            <a:ext cx="457200" cy="45720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77640" y="47548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it into the ABCD framework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754880"/>
            <a:ext cx="457200" cy="45720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47548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right metrics from 30+ options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4754880"/>
            <a:ext cx="457200" cy="45720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46920" y="47548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it compellingly without overclaiming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• 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Joey did something interesting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from a session earlier this year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685800" cy="68580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 write his priorities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pressure. Same blank page.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9264" y="2788920"/>
            <a:ext cx="27432" cy="32004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017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the references we all have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doc, metrics page, example priorities at ML7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9264" y="3749040"/>
            <a:ext cx="27432" cy="32004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Copilot to help build a prompt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'write my priorities' — 'help me build a prompt file that will write them'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9264" y="4709160"/>
            <a:ext cx="27432" cy="32004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983480"/>
            <a:ext cx="685800" cy="68580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4937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a 287-line coaching agent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Reusable. Multi-phase. Interviews you, then produces publishable output.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2648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5F6FD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we're going to pick that file apart and see what's inside.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• 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arc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minutes. Arranged so you can copy the pattern.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621792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the story, the pattern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1635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81635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81635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281635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→ Copilot → Prompt File (the meta-pattern)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11064240" cy="621792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29584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352958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5295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Prompt File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352958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Screen-share the priority_builder file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42816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4281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54480" y="424281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424281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Techniques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35040" y="424281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slide. How each piece earns its place.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956048"/>
            <a:ext cx="11064240" cy="621792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956048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554480" y="495604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495604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&amp; ROI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035040" y="495604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running it actually produces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66928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554480" y="566928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0" y="56692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+ Q&amp;A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035040" y="566928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homework + open discussion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•  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meta-pattern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+  Copilot  =  a reusable prompt file.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1828800" cy="7315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once. Use it every cycle.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 with the team. Multiply the value.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•  THE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Gather the 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were already available to Joey (and to you)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11880" cy="3886200"/>
          </a:xfrm>
          <a:prstGeom prst="rect">
            <a:avLst/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3611880" cy="27432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DOC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core_capabilities_manager.txt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'Level 7' behaviors look like — Thinking, Execution, Relationships. The rubric Joey is being evaluated against.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3611880" cy="3886200"/>
          </a:xfrm>
          <a:prstGeom prst="rect">
            <a:avLst/>
          </a:prstGeom>
          <a:solidFill>
            <a:srgbClr val="B2DFDB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103120"/>
            <a:ext cx="3611880" cy="2743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103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TAXONOMY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unlocking_metrics.html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4747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30+ valid metric types across Financial and Non-Financial categories. The menu Joey must pick from.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2103120"/>
            <a:ext cx="3611880" cy="3886200"/>
          </a:xfrm>
          <a:prstGeom prst="rect">
            <a:avLst/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103120"/>
            <a:ext cx="3611880" cy="2743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103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PRIORITIES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2560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example_of_priorities_ML7.md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4747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well-written ML7 priorities actually look like, with targets and ABCD structure. The bar to match.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already existed. Joey didn't write them — he just collected them in one place.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•  THE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Ask Copilot to build the prompt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'do the task' — 'help me build a tool that does the task'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1033272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91440" cy="182880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240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3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(paraphrased)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these three reference files, help me build a prompt file that: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interviews me about my work this cycle,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mines my workspace for evidence,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generates FY26 priorities in the company's ABCD format — CSV for the portal, readable doc for review.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right level of abstraction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73152" cy="3200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= grounding  </a:t>
            </a:r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AI isn't guessing what FY26 priorities look like — the examples are right there.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73152" cy="3200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file = leverage  </a:t>
            </a:r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One-time build. Every cycle thereafter costs ~30 min, not 3 hours.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943600"/>
            <a:ext cx="73152" cy="3200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Team-shareable  </a:t>
            </a:r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Joey's file works for anyone at ML7. Same pattern adapts to other levels.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•  THE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The result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priority_builder_instructions_ai.md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prompt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16352" y="21031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6A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2907792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phases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4064" y="21031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A7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5175504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51776" y="21031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51776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7443216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versions per priority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19488" y="21031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B47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9488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9710928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techniques in use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file 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multi-phase coaching agent. You paste it into Copilot Chat and it takes over:  greets you → asks what categories you want to focus on → interviews you with 20+ questions → searches your workspace for evidence → produces three versions of each priority (Conservative, Balanced, Aspirational) → offers to iterate → outputs both CSV (for the portal) and a formatted doc (for review).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•  THE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works beyond priorities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recurring task with reference material is a candidate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40680" cy="1143000"/>
          </a:xfrm>
          <a:prstGeom prst="rect">
            <a:avLst/>
          </a:prstGeom>
          <a:solidFill>
            <a:srgbClr val="F5F6FD"/>
          </a:solidFill>
          <a:ln w="25400">
            <a:solidFill>
              <a:srgbClr val="3F51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73152" cy="114300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Priorities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23360" y="2267712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EXAMPLE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metrics, example priorities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103120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103120"/>
            <a:ext cx="73152" cy="11430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Descriptions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style guide, past good PRs, commit conventions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29000"/>
            <a:ext cx="73152" cy="11430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Status Reports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 template, KPI definitions, past 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429000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429000"/>
            <a:ext cx="73152" cy="11430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Generation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conventions, example tests, coverage standards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54880"/>
            <a:ext cx="73152" cy="11430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892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5257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5486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handbook, project docs, past onboarding notes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754880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4754880"/>
            <a:ext cx="73152" cy="114300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892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Feedback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080" y="5257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5486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guide, common issues list, past reviews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•  MEET THE PROMPT 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1828800" y="2377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2834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priority_builder_instructions_ai.md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top to bottom — about 10 minutes.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out as you scroll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 labels  </a:t>
            </a:r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one does one thing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Question bank  </a:t>
            </a:r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notice it says 'adapt based on answers'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 2.5: Artifact Mining  </a:t>
            </a:r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searches your actual files for evidence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Three versions  </a:t>
            </a:r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Conservative / Balanced / Aspirational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Tone &amp; Style section  </a:t>
            </a:r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explicit voice instructions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•  MEET THE PROMPT FILE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saw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phases. Each one earns its place.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76272"/>
            <a:ext cx="365760" cy="36576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Setup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1031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Greet. Ask how many priorities. Which categories.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365760" cy="36576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670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interview, 32 questions organized by category.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11064240" cy="502920"/>
          </a:xfrm>
          <a:prstGeom prst="rect">
            <a:avLst/>
          </a:prstGeom>
          <a:solidFill>
            <a:srgbClr val="FFCDD2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310128"/>
            <a:ext cx="365760" cy="36576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2369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Mining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323697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searches YOUR workspace for evidence.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877056"/>
            <a:ext cx="365760" cy="36576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8039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Versions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380390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versions per priority (Conservative / Balanced / Aspirational).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70832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443984"/>
            <a:ext cx="365760" cy="36576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443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370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437083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elements, mix, regenerate, or answer more questions.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9377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010912"/>
            <a:ext cx="365760" cy="36576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8872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389120" y="4937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complete. Move to next priority.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504688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5577840"/>
            <a:ext cx="365760" cy="36576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88720" y="55046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389120" y="550468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for the portal + formatted doc for review.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2.5 (Artifact Mining) is highlighted — we'll come back to it as Technique #6. That's where the magic is.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Joey's file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techniques. Each one earns its place.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432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74320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7432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Goal-First Writing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74320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7432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82396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474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Workflow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47472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3474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Question Bank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47472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23960" y="3474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RAG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06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Multi-Persona Generation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420624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206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2920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Output Examples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20624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206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82396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Loop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93776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937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234440" y="4937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Multi-Format Output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43400" y="493776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4937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0" y="4937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Style Directives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38160" y="4937760"/>
            <a:ext cx="3611880" cy="594360"/>
          </a:xfrm>
          <a:prstGeom prst="rect">
            <a:avLst/>
          </a:prstGeom>
          <a:solidFill>
            <a:srgbClr val="303F9F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4937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823960" y="4937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AI's persona before anything else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9 — first line of the prompt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career coach and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 specialist helping Accenture employees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compelling FY26 priorities with ABCD reflections.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Career-coach AI writes different output than 'helpful generalist.' Voice, priorities, and judgment all shift. Without a role, the AI defaults to middle-of-the-road help.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Goal-First Writing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deliverable in one sentence, early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9 — immediately after the role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goal is to generate 2-3 high-quality priorities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will position the user for success in their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review.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knows what 'done' looks like in 22 words. Everything that follows is context supporting that goal — not a guessing game about what the user actually wants.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 with Domain Knowledge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domain-specific frameworks directly in the prompt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11-58 — the entire context block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four FY26 priority categories are: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Client Value Creation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AI Enablement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Great Place to Work for Reinventors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Community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(Followed by 30+ valid metric types across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and Non-Financial groupings)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B2DFDB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doesn't 'know' Accenture's priority framework from training data. Baking it into the prompt means every output respects the categories — no hallucinated metrics, no made-up rubrics.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Workflow  (aka Prompt Chaining)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complex task into explicit sequential phases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backbone of the entire 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1: INITIAL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2: 20 QUESTIONS PER PRIORITY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2.5: ARTIFACT MINING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3: GENERATE PRIORITY VERSIONS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4: ITERATIVE REFINEMENT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5: FINALIZATION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6: FINAL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B2DFDB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tasks fail when the AI tries to do everything at once. Naming explicit phases forces the AI to finish each step before moving on — and gives the user natural checkpoints to validate progress.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Question Bank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of questions + rules for when to ask which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79-129 — the question bank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priority they want to create, play "20 Questions"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extract detailed information.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questions conversationally, adapting based on their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answers. Don't ask all 20 if you have enough info.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(Followed by 32 questions grouped by category: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Discovery, Client Value, AI, Team, Community, Metrics, ABCD)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scripts produce robotic interviews. Giving the AI a library PLUS adaptation rules ("stop when you have enough info") produces conversation — which gets better input than interrogation.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RAG  (Artifact Mining)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AI read real files for evidence — don't just trust claims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0" y="64008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640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GAME CHANGER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131-136 — an entire dedicated phase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2.5: ARTIFACT MINING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generating versions, search the user's workspace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evidence: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Use `find` or `glob` to locate relevant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 presentations, READMEs, and code for metrics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Validate claimed numbers against actual artifacts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Extract quantifiable data from documents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CDD2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Retrieval-Augmented Generation in action. The AI retrieves real data from your workspace and grounds the output in it. Numbers become real. No fluff. No exaggeration. This is what `#file:` and `@codebase` do in Copilot — Joey names it explicitly.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Multi-Persona / Multi-Version Generation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2-3 variants on a spectrum, not one 'best' answer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138-157 — Phase 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A - CONSERVATIVE: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Safe, achievable goals. Standard metrics.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B - BALANCED: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Ambitious but realistic. Mix of quant and qual metrics.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C - ASPIRATIONAL: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Stretch goals. Aggressive metrics. Maximum impact.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are bad at evaluating a single option in isolation ("is this good?"). Humans are great at comparing options ("which of these three feels right?"). Three variants turns a hard judgment call into an easy preference.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Output Examples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exact shape of what you want back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161-180 — the format template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all three versions in a clear table format like this: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[Category Name] - [Short Title]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A (Conservative):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 Description: [detailed description]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Metrics: [1-3 metrics from the list]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 Value: [outcome]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ABCD Reflection: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- Accomplishments: [what you did]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- Business Impact: [measurable value]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"Format it clearly" is vague. Showing the exact template guarantees the output matches. This is few-shot prompting applied to format rather than content.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Loop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iteration into the workflow, don't leave it to the user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184-192 — Phase 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showing all three versions, ask: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version resonates with you most?"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Offer these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I like Version [A/B/C] — use that 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Create a custom version combining elements I specify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Pin specific cells I like and regenerate the rest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Answer more questions to refine further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Start over with different information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1BEE7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prompts stop at "produce the answer." The priority builder recognizes the first answer is a starting point, not a deliverable. The loop is built in — including the brilliant "pin cells, regenerate the rest" pattern.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Multi-Format Output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for the system AND for the reviewer in one pass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207-261 — Phase 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1 - CSV (Ready to Copy/Paste into Excel):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Priority,Prio Category,Metric,Value,Reflection-A,...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2 - FORMATTED DOCUMENT (Human Readable):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 PRIORITY 1: [Category] - [Title] ═══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CSV FORMATTING RULES: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Use EXACT column headers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Wrap ALL cell values in double quotes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Each priority = one row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workflows need real output. Joey's priorities end up in a corporate portal (CSV) AND get self-reviewed (formatted doc). The prompt produces both in one pass — no manual reformatting.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Style Directives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voice, not just the content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276-283 — final voice block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 &amp; STYLE: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Encouraging and supportive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Professional but friendly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Solution-oriented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Celebrate their achievements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Push for specificity without being pushy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Make them feel confident about their priorities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B2DFDB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tone directives, AI veers between 'generic helpful' and 'unnecessarily formal.' For a coaching use case, a warm-but-rigorous voice matters. Making it explicit locks it in across every interaction.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THE 12 TECHNIQUES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  (Bidirectional)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ask, not assume — across the entire workflow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0" y="64008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640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KEY DIFFERENTIATOR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BUILDER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265-275 — guidelines section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34640"/>
            <a:ext cx="73152" cy="21031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7180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 CONVERSATIONAL: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Don't feel like you must ask all 20 questions.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Stop when you have enough information.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 QUESTIONS: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Based on their role, tailor questions appropriately.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 HONEST: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they haven't accomplished much yet, help them write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forward-looking priorities with realistic reflections.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 EXAMPLES: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they're stuck, offer 2-3 concrete examples.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CDD2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03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differentiator between a prompt and a prompt template. Without this, AI silently guesses when inputs are ambiguous. With it, AI asks, adapts, and collaborates. The interaction becomes a conversation, not a command.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•  THE OUTPUT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running it actually produces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 from real generated priorities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3749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73152" cy="37490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94560"/>
            <a:ext cx="10607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  PRIORITY 1: Client Value Creation  ═══
</a:t>
            </a:r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Title: 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 critical platform migrations and secure contract renewal
</a:t>
            </a:r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Metrics:
</a:t>
            </a:r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Non-Financial | Client Delivery | 2 platform migrations, zero critical defects
</a:t>
            </a:r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Financial     | On Time/On Budget | Both migrations within contracted timeline
</a:t>
            </a:r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Non-Financial | Client Partnership | Restore client from red to green + renew contract
</a:t>
            </a:r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— Accomplishments: </a:t>
            </a:r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 Java SpringBoot ECS-to-Lambda migration with the service now fully serving production traffic...
</a:t>
            </a:r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— Business Impact: </a:t>
            </a:r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Transformed client relationship from "considering termination" to "renewed for another year," preserving a multi-year engagement...
</a:t>
            </a:r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— Challenges Overcome: </a:t>
            </a:r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Inherited a team with zero completed deliverables and active client doubt about the engagement's viability...
</a:t>
            </a:r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— Development &amp; Learning: </a:t>
            </a:r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Deepened expertise in serverless architecture patterns and AWS security services...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Publishable-quality on first generation. The technique-dense prompt file produces technique-dense output.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•  THE OUTPUT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evening of prompt-building. Every cycle, forever.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BUILDER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BUILDER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0320"/>
            <a:ext cx="73152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draft priorities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hours per cycle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2560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08960"/>
            <a:ext cx="73152" cy="5029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08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metrics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Variable, often vague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artifact mining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57600"/>
            <a:ext cx="73152" cy="5029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57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consistency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re-formatting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doc in one pass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206240"/>
            <a:ext cx="73152" cy="50292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scalability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figures it out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→ everyone benefits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7548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754880"/>
            <a:ext cx="73152" cy="5029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754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cycles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754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over each time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754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file, new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person. One evening of prompt-building. Infinite reuse for the team.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•  APPLY 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works for any recurring task with reference material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the references you already have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423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examples, standards docs, past work — anything that defines 'good.'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Copilot to help build the prompt file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these references, build a prompt that [interviews me / guides me / generates X]."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against a real task and iterate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what's weak. Tell Copilot how to fix the prompt file. Repeat until solid.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it where the team can find 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.github/prompts/  •  .windsurf/workflows/  •  .claude/skills/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6080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recurring task in your work. Build the first draft of a prompt file for it by next week.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•  APPLY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3152" cy="11887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composition, </a:t>
            </a:r>
            <a:pPr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magic words.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known techniques layered into one file. That's the whole trick.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73152" cy="11887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11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+ Copilot </a:t>
            </a:r>
            <a:pPr indent="0" marL="0">
              <a:buNone/>
            </a:pPr>
            <a:r>
              <a:rPr lang="en-US" sz="2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reusable prompt file.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leverage isn't in 'doing the task with AI.' It's in 'building a tool that does the task with AI.'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73152" cy="11887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029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interaction </a:t>
            </a:r>
            <a:pPr indent="0" marL="0">
              <a:buNone/>
            </a:pPr>
            <a:r>
              <a:rPr lang="en-US" sz="2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upgrade most teams skip.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AI to ask before it assumes. Artifact mining. Clarifying questions. Three versions instead of 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Builder Case Study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486400" y="3931920"/>
            <a:ext cx="1188720" cy="7315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— what's YOUR first prompt file?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prompt file: </a:t>
            </a:r>
            <a:pPr algn="ctr" indent="0" marL="0">
              <a:buNone/>
            </a:pPr>
            <a:r>
              <a:rPr lang="en-US" sz="1300" b="1" dirty="0">
                <a:solidFill>
                  <a:srgbClr val="303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 Process/priority_builder_instructions_ai.md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artifact: </a:t>
            </a:r>
            <a:pPr algn="ctr" indent="0" marL="0">
              <a:buNone/>
            </a:pPr>
            <a:r>
              <a:rPr lang="en-US" sz="1300" b="1" dirty="0">
                <a:solidFill>
                  <a:srgbClr val="303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priority-builder-talk.md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guide: </a:t>
            </a:r>
            <a:pPr algn="ctr" indent="0" marL="0">
              <a:buNone/>
            </a:pPr>
            <a:r>
              <a:rPr lang="en-US" sz="1300" b="1" dirty="0">
                <a:solidFill>
                  <a:srgbClr val="303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prompt-engineering-guide.pdf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Priority Builder — A Case Study in Prompt Engineering</dc:title>
  <dc:subject>How prompt techniques compose in a real-world prompt file</dc:subject>
  <dc:creator>Gustavo Andres</dc:creator>
  <cp:lastModifiedBy>Gustavo Andres</cp:lastModifiedBy>
  <cp:revision>1</cp:revision>
  <dcterms:created xsi:type="dcterms:W3CDTF">2026-04-23T14:23:56Z</dcterms:created>
  <dcterms:modified xsi:type="dcterms:W3CDTF">2026-04-23T14:23:56Z</dcterms:modified>
</cp:coreProperties>
</file>