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the team. Frame: today is about taking prompting from a one-off skill to a team asset. Promise: you'll see one real template that uses 8 techniques, and by the end you'll know how to build your own.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the problem. Most teams have everyone reinventing prompts. The promise of templates: build it once, get consistent results every time. Do not list the chips on the right — let the visual carry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Pause on this slide. The takeaway is composition over magic. People often hunt for 'the one trick' — the win is layering.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concrete deliverable. Do NOT walk through the template content here — that comes next when we screen-share the .md file. Land the time-savings number. People remember 60→8.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Pause the deck. Switch screens to the .md file. Walk the template top to bottom — point out each labeled section. Don't go deep on each technique yet — save that for the next 8 slides. Aim for 3-4 minutes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Don't read the excerpt. Say: every prompt benefits from telling the AI WHO it is. Senior engineers write tests differently than a 'helpful assistant.'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Goal-first is the single most underused technique. Most people bury the request in paragraph 3. The first sentence should say what done looks like.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Structured context = bullets. The AI parses bullets faster than prose. Note the SCOPE: project + stack + conventions + standards. That's all the AI needs.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Negative constraints are as important as positive ones. 'Do NOT use @SpringBootTest' prevents the most common failure mode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Few-shot prompting. Show 5 examples of the naming format you want. Telling AI 'use descriptive names' produces wildly inconsistent results. Showing 5 examples produces 50 matching ones.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Chain-of-thought = 'think step by step'. Forces the AI to enumerate before generating. Catches the edge cases junior devs forget.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Output format makes the template usable in a workflow. If the format is unpredictable, you can't pipe the result anywhere.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one most teams skip — and it's the highest-impact addition. Without this block, AI silently guesses when input is ambiguous. With it, the conversation becomes bidirectional. Demonstrate by reading the example questions in your example-template-talk.md.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Land the multiplier idea. One technique = small win. Eight = transformation. Let people scan the failure modes silently — don't read them all out.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timeline left to right. Land the bidirectional moment at step 2 — that's the conversation, not just generation. Time numbers should be your closing emphasis.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Concrete adoption path. The 'top 5 tasks' pitch is the close — make it actionable. Suggest each team member picks one repetitive task to template by next sprint.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Zoom out. Today's template is one example of layer 2. Behind it sits layer 1 (the meta-prompt) that you can build for ANY recurring task type. Briefly point at the prompt engineering guide PDF as the resource for going deeper.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Land the three. If they remember nothing else, these three sentences should stick. Pause briefly between each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for questions. Have the .md file and the PDF ready to share if anyone wants a deeper dive.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3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194560"/>
            <a:ext cx="1097280" cy="73152"/>
          </a:xfrm>
          <a:prstGeom prst="rect">
            <a:avLst/>
          </a:prstGeom>
          <a:solidFill>
            <a:srgbClr val="26A69A"/>
          </a:solidFill>
          <a:ln w="12700">
            <a:solidFill>
              <a:srgbClr val="26A6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91640" y="2194560"/>
            <a:ext cx="365760" cy="73152"/>
          </a:xfrm>
          <a:prstGeom prst="rect">
            <a:avLst/>
          </a:prstGeom>
          <a:solidFill>
            <a:srgbClr val="FFA726"/>
          </a:solidFill>
          <a:ln w="12700">
            <a:solidFill>
              <a:srgbClr val="FFA72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103120" y="2194560"/>
            <a:ext cx="182880" cy="73152"/>
          </a:xfrm>
          <a:prstGeom prst="rect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468880"/>
            <a:ext cx="10972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Prompt to Template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548640" y="37490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Showcasing Prompt Engineering Techniques in Action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48640" y="51206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6A6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Gustavo Andres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55321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team talk  •  ~15 min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talk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731520" cy="54864"/>
          </a:xfrm>
          <a:prstGeom prst="rect">
            <a:avLst/>
          </a:prstGeom>
          <a:solidFill>
            <a:srgbClr val="26A69A"/>
          </a:solidFill>
          <a:ln w="12700">
            <a:solidFill>
              <a:srgbClr val="26A6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73736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of us write prompts one-off.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22860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retype, we tweak, we forget what worked.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32918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7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Today: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3657600"/>
            <a:ext cx="5486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few well-known techniques compose into one template — and why that changes everything.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858000" y="1554480"/>
            <a:ext cx="1554480" cy="457200"/>
          </a:xfrm>
          <a:prstGeom prst="roundRect">
            <a:avLst>
              <a:gd name="adj" fmla="val 16000"/>
            </a:avLst>
          </a:prstGeom>
          <a:solidFill>
            <a:srgbClr val="F5F5F5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0" y="15544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bug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595360" y="1920240"/>
            <a:ext cx="1554480" cy="457200"/>
          </a:xfrm>
          <a:prstGeom prst="roundRect">
            <a:avLst>
              <a:gd name="adj" fmla="val 16000"/>
            </a:avLst>
          </a:prstGeom>
          <a:solidFill>
            <a:srgbClr val="F5F5F5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95360" y="19202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tests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0332720" y="1463040"/>
            <a:ext cx="1371600" cy="457200"/>
          </a:xfrm>
          <a:prstGeom prst="roundRect">
            <a:avLst>
              <a:gd name="adj" fmla="val 16000"/>
            </a:avLst>
          </a:prstGeom>
          <a:solidFill>
            <a:srgbClr val="F5F5F5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332720" y="14630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 this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040880" y="2468880"/>
            <a:ext cx="1463040" cy="457200"/>
          </a:xfrm>
          <a:prstGeom prst="roundRect">
            <a:avLst>
              <a:gd name="adj" fmla="val 16000"/>
            </a:avLst>
          </a:prstGeom>
          <a:solidFill>
            <a:srgbClr val="F5F5F5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040880" y="24688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refactor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869680" y="2743200"/>
            <a:ext cx="1554480" cy="457200"/>
          </a:xfrm>
          <a:prstGeom prst="roundRect">
            <a:avLst>
              <a:gd name="adj" fmla="val 16000"/>
            </a:avLst>
          </a:prstGeom>
          <a:solidFill>
            <a:srgbClr val="F5F5F5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869680" y="27432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PR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0789920" y="2468880"/>
            <a:ext cx="914400" cy="457200"/>
          </a:xfrm>
          <a:prstGeom prst="roundRect">
            <a:avLst>
              <a:gd name="adj" fmla="val 16000"/>
            </a:avLst>
          </a:prstGeom>
          <a:solidFill>
            <a:srgbClr val="F5F5F5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789920" y="24688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595360" y="33832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7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800" dirty="0"/>
          </a:p>
        </p:txBody>
      </p:sp>
      <p:sp>
        <p:nvSpPr>
          <p:cNvPr id="21" name="Shape 19"/>
          <p:cNvSpPr/>
          <p:nvPr/>
        </p:nvSpPr>
        <p:spPr>
          <a:xfrm>
            <a:off x="7315200" y="4114800"/>
            <a:ext cx="4297680" cy="1554480"/>
          </a:xfrm>
          <a:prstGeom prst="rect">
            <a:avLst/>
          </a:prstGeom>
          <a:solidFill>
            <a:srgbClr val="F5F6FD"/>
          </a:solidFill>
          <a:ln w="19050">
            <a:solidFill>
              <a:srgbClr val="3F51B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315200" y="4114800"/>
            <a:ext cx="73152" cy="1554480"/>
          </a:xfrm>
          <a:prstGeom prst="rect">
            <a:avLst/>
          </a:prstGeom>
          <a:solidFill>
            <a:srgbClr val="3F51B5"/>
          </a:solidFill>
          <a:ln w="12700">
            <a:solidFill>
              <a:srgbClr val="3F51B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543800" y="429768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Template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7543800" y="480060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Reusable. Consistent. Team-shareable.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0" y="6537960"/>
            <a:ext cx="12161520" cy="36576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65653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Prompt to Template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789920" y="65653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19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23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26A6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 idea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1828800"/>
            <a:ext cx="10972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prompt template is just composition of techniques.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548640" y="3657600"/>
            <a:ext cx="1371600" cy="54864"/>
          </a:xfrm>
          <a:prstGeom prst="rect">
            <a:avLst/>
          </a:prstGeom>
          <a:solidFill>
            <a:srgbClr val="FFA726"/>
          </a:solidFill>
          <a:ln w="12700">
            <a:solidFill>
              <a:srgbClr val="FFA72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4114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one technique helps.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47548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together change the category of output you get.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0" y="6537960"/>
            <a:ext cx="12161520" cy="36576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65653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Prompt to Template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789920" y="65653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19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 the template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731520" cy="54864"/>
          </a:xfrm>
          <a:prstGeom prst="rect">
            <a:avLst/>
          </a:prstGeom>
          <a:solidFill>
            <a:srgbClr val="26A69A"/>
          </a:solidFill>
          <a:ln w="12700">
            <a:solidFill>
              <a:srgbClr val="26A6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554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7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example: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9202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Comprehensive Unit Tests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3108960"/>
            <a:ext cx="4114800" cy="1463040"/>
          </a:xfrm>
          <a:prstGeom prst="rect">
            <a:avLst/>
          </a:prstGeom>
          <a:solidFill>
            <a:srgbClr val="F5F6FD"/>
          </a:solidFill>
          <a:ln w="12700">
            <a:solidFill>
              <a:srgbClr val="3F51B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3108960"/>
            <a:ext cx="54864" cy="1463040"/>
          </a:xfrm>
          <a:prstGeom prst="rect">
            <a:avLst/>
          </a:prstGeom>
          <a:solidFill>
            <a:srgbClr val="3F51B5"/>
          </a:solidFill>
          <a:ln w="12700">
            <a:solidFill>
              <a:srgbClr val="3F51B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32461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303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77240" y="356616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Java service class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77240" y="406908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Referenced via #file in Copilot Chat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846320" y="356616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7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200" dirty="0"/>
          </a:p>
        </p:txBody>
      </p:sp>
      <p:sp>
        <p:nvSpPr>
          <p:cNvPr id="12" name="Shape 10"/>
          <p:cNvSpPr/>
          <p:nvPr/>
        </p:nvSpPr>
        <p:spPr>
          <a:xfrm>
            <a:off x="5669280" y="3108960"/>
            <a:ext cx="5943600" cy="1463040"/>
          </a:xfrm>
          <a:prstGeom prst="rect">
            <a:avLst/>
          </a:prstGeom>
          <a:solidFill>
            <a:srgbClr val="F5F6FD"/>
          </a:solidFill>
          <a:ln w="12700">
            <a:solidFill>
              <a:srgbClr val="26A69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669280" y="3108960"/>
            <a:ext cx="54864" cy="1463040"/>
          </a:xfrm>
          <a:prstGeom prst="rect">
            <a:avLst/>
          </a:prstGeom>
          <a:solidFill>
            <a:srgbClr val="26A69A"/>
          </a:solidFill>
          <a:ln w="12700">
            <a:solidFill>
              <a:srgbClr val="26A69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97880" y="324612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7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897880" y="3566160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JUnit 5 + Mockito test file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897880" y="406908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Standards-compliant, ready to commit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5120640"/>
            <a:ext cx="11064240" cy="822960"/>
          </a:xfrm>
          <a:prstGeom prst="roundRect">
            <a:avLst>
              <a:gd name="adj" fmla="val 11111"/>
            </a:avLst>
          </a:prstGeom>
          <a:solidFill>
            <a:srgbClr val="FFE0B2"/>
          </a:solidFill>
          <a:ln w="12700">
            <a:solidFill>
              <a:srgbClr val="FFA72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512064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8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SAVED  </a:t>
            </a:r>
            <a:pPr indent="0" marL="0">
              <a:buNone/>
            </a:pPr>
            <a:r>
              <a:rPr lang="en-US" sz="160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~60 min by hand</a:t>
            </a:r>
            <a:pPr indent="0" marL="0">
              <a:buNone/>
            </a:pPr>
            <a:r>
              <a:rPr lang="en-US" sz="1600" b="1" dirty="0">
                <a:solidFill>
                  <a:srgbClr val="FF8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</a:t>
            </a:r>
            <a:pPr indent="0" marL="0">
              <a:buNone/>
            </a:pPr>
            <a:r>
              <a:rPr lang="en-US" sz="16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 min with the template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0" y="6537960"/>
            <a:ext cx="12161520" cy="36576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65653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Prompt to Template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789920" y="65653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19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194560"/>
            <a:ext cx="1280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0" b="1" dirty="0">
                <a:solidFill>
                  <a:srgbClr val="26A6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0" dirty="0"/>
          </a:p>
        </p:txBody>
      </p:sp>
      <p:sp>
        <p:nvSpPr>
          <p:cNvPr id="3" name="Text 1"/>
          <p:cNvSpPr/>
          <p:nvPr/>
        </p:nvSpPr>
        <p:spPr>
          <a:xfrm>
            <a:off x="1828800" y="22860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to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828800" y="27432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2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example-template-talk.md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828800" y="3657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through the template top to bottom — about 4 minutes.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5120640"/>
            <a:ext cx="11064240" cy="36576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53035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 back to this deck after the walkthrough.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0" y="6537960"/>
            <a:ext cx="12161520" cy="36576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65653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Prompt to Template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789920" y="65653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19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68680" cy="868680"/>
          </a:xfrm>
          <a:prstGeom prst="ellipse">
            <a:avLst/>
          </a:prstGeom>
          <a:solidFill>
            <a:srgbClr val="3F51B5"/>
          </a:solidFill>
          <a:ln w="12700">
            <a:solidFill>
              <a:srgbClr val="3F51B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50292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1691640" y="5486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691640" y="8229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Assignment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691640" y="14173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the AI's persona and scope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21945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TEMPLATE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24231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51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ROLE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2880360"/>
            <a:ext cx="11064240" cy="1920240"/>
          </a:xfrm>
          <a:prstGeom prst="rect">
            <a:avLst/>
          </a:prstGeom>
          <a:solidFill>
            <a:srgbClr val="FAFA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2880360"/>
            <a:ext cx="73152" cy="1920240"/>
          </a:xfrm>
          <a:prstGeom prst="rect">
            <a:avLst/>
          </a:prstGeom>
          <a:solidFill>
            <a:srgbClr val="3F51B5"/>
          </a:solidFill>
          <a:ln w="12700">
            <a:solidFill>
              <a:srgbClr val="3F51B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3017520"/>
            <a:ext cx="106070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You are a senior Java engineer specializing in TDD.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Your job is to generate clear, maintainable unit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tests — not to refactor or critique the source code.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5074920"/>
            <a:ext cx="11064240" cy="1143000"/>
          </a:xfrm>
          <a:prstGeom prst="roundRect">
            <a:avLst>
              <a:gd name="adj" fmla="val 6400"/>
            </a:avLst>
          </a:prstGeom>
          <a:solidFill>
            <a:srgbClr val="E8EAF6"/>
          </a:solidFill>
          <a:ln w="12700">
            <a:solidFill>
              <a:srgbClr val="3F51B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521208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22960" y="544068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 role, the AI defaults to 'helpful generalist.' With one, output gets sharper.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0" y="6537960"/>
            <a:ext cx="12161520" cy="36576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65653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Prompt to Template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789920" y="65653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19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68680" cy="868680"/>
          </a:xfrm>
          <a:prstGeom prst="ellipse">
            <a:avLst/>
          </a:prstGeom>
          <a:solidFill>
            <a:srgbClr val="3F51B5"/>
          </a:solidFill>
          <a:ln w="12700">
            <a:solidFill>
              <a:srgbClr val="3F51B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50292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1691640" y="5486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691640" y="8229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Goal-First Writing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691640" y="14173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with what you want back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21945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TEMPLATE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24231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51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GOAL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2880360"/>
            <a:ext cx="11064240" cy="1920240"/>
          </a:xfrm>
          <a:prstGeom prst="rect">
            <a:avLst/>
          </a:prstGeom>
          <a:solidFill>
            <a:srgbClr val="FAFA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2880360"/>
            <a:ext cx="73152" cy="1920240"/>
          </a:xfrm>
          <a:prstGeom prst="rect">
            <a:avLst/>
          </a:prstGeom>
          <a:solidFill>
            <a:srgbClr val="3F51B5"/>
          </a:solidFill>
          <a:ln w="12700">
            <a:solidFill>
              <a:srgbClr val="3F51B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3017520"/>
            <a:ext cx="106070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Generate a complete JUnit 5 + Mockito test file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the class referenced below, achieving at least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80% line coverage with meaningful assertions.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5074920"/>
            <a:ext cx="11064240" cy="1143000"/>
          </a:xfrm>
          <a:prstGeom prst="roundRect">
            <a:avLst>
              <a:gd name="adj" fmla="val 6400"/>
            </a:avLst>
          </a:prstGeom>
          <a:solidFill>
            <a:srgbClr val="E8EAF6"/>
          </a:solidFill>
          <a:ln w="12700">
            <a:solidFill>
              <a:srgbClr val="3F51B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521208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22960" y="544068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knows the deliverable in 25 words. Everything else is context for that goal.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0" y="6537960"/>
            <a:ext cx="12161520" cy="36576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65653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Prompt to Template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789920" y="65653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19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68680" cy="868680"/>
          </a:xfrm>
          <a:prstGeom prst="ellipse">
            <a:avLst/>
          </a:prstGeom>
          <a:solidFill>
            <a:srgbClr val="26A69A"/>
          </a:solidFill>
          <a:ln w="12700">
            <a:solidFill>
              <a:srgbClr val="26A6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50292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1691640" y="5486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691640" y="8229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7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Context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691640" y="14173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Bullets, not narrative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21945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TEMPLATE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24231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A6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CONTEXT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2880360"/>
            <a:ext cx="11064240" cy="1920240"/>
          </a:xfrm>
          <a:prstGeom prst="rect">
            <a:avLst/>
          </a:prstGeom>
          <a:solidFill>
            <a:srgbClr val="FAFA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2880360"/>
            <a:ext cx="73152" cy="1920240"/>
          </a:xfrm>
          <a:prstGeom prst="rect">
            <a:avLst/>
          </a:prstGeom>
          <a:solidFill>
            <a:srgbClr val="26A69A"/>
          </a:solidFill>
          <a:ln w="12700">
            <a:solidFill>
              <a:srgbClr val="26A69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3017520"/>
            <a:ext cx="106070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Project: order-service (Spring Boot 3.2)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Stack: Java 17, JUnit 5, Mockito 5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Conventions: @ExtendWith(MockitoExtension),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Given/When/Then, name_condition_expectedResult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Coverage target: 80% minimum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5074920"/>
            <a:ext cx="11064240" cy="1143000"/>
          </a:xfrm>
          <a:prstGeom prst="roundRect">
            <a:avLst>
              <a:gd name="adj" fmla="val 6400"/>
            </a:avLst>
          </a:prstGeom>
          <a:solidFill>
            <a:srgbClr val="B2DFDB"/>
          </a:solidFill>
          <a:ln w="12700">
            <a:solidFill>
              <a:srgbClr val="26A69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521208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7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22960" y="544068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Bullets are easier for the AI to parse than prose. Signal, not story.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0" y="6537960"/>
            <a:ext cx="12161520" cy="36576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65653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Prompt to Template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789920" y="65653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19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68680" cy="868680"/>
          </a:xfrm>
          <a:prstGeom prst="ellipse">
            <a:avLst/>
          </a:prstGeom>
          <a:solidFill>
            <a:srgbClr val="26A69A"/>
          </a:solidFill>
          <a:ln w="12700">
            <a:solidFill>
              <a:srgbClr val="26A6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50292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1691640" y="5486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691640" y="8229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7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691640" y="14173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do AND what NOT to do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21945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TEMPLATE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24231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A6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CONSTRAINTS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2880360"/>
            <a:ext cx="11064240" cy="1920240"/>
          </a:xfrm>
          <a:prstGeom prst="rect">
            <a:avLst/>
          </a:prstGeom>
          <a:solidFill>
            <a:srgbClr val="FAFA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2880360"/>
            <a:ext cx="73152" cy="1920240"/>
          </a:xfrm>
          <a:prstGeom prst="rect">
            <a:avLst/>
          </a:prstGeom>
          <a:solidFill>
            <a:srgbClr val="26A69A"/>
          </a:solidFill>
          <a:ln w="12700">
            <a:solidFill>
              <a:srgbClr val="26A69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3017520"/>
            <a:ext cx="106070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Do NOT modify the source class. Tests only.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Do NOT use @SpringBootTest.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Do NOT use Lombok in tests.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Every test must contain at least one assertion.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5074920"/>
            <a:ext cx="11064240" cy="1143000"/>
          </a:xfrm>
          <a:prstGeom prst="roundRect">
            <a:avLst>
              <a:gd name="adj" fmla="val 6400"/>
            </a:avLst>
          </a:prstGeom>
          <a:solidFill>
            <a:srgbClr val="B2DFDB"/>
          </a:solidFill>
          <a:ln w="12700">
            <a:solidFill>
              <a:srgbClr val="26A69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521208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7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22960" y="544068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tools 'improve' things you didn't ask them to. Negative constraints prevent surprises.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0" y="6537960"/>
            <a:ext cx="12161520" cy="36576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65653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Prompt to Template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789920" y="65653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68680" cy="868680"/>
          </a:xfrm>
          <a:prstGeom prst="ellipse">
            <a:avLst/>
          </a:prstGeom>
          <a:solidFill>
            <a:srgbClr val="FFA726"/>
          </a:solidFill>
          <a:ln w="12700">
            <a:solidFill>
              <a:srgbClr val="FFA7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50292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1691640" y="5486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691640" y="8229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8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Few-Shot Examples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691640" y="14173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Show, don't tell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21945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TEMPLATE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24231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A7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EXAMPLES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2880360"/>
            <a:ext cx="11064240" cy="1920240"/>
          </a:xfrm>
          <a:prstGeom prst="rect">
            <a:avLst/>
          </a:prstGeom>
          <a:solidFill>
            <a:srgbClr val="FAFA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2880360"/>
            <a:ext cx="73152" cy="1920240"/>
          </a:xfrm>
          <a:prstGeom prst="rect">
            <a:avLst/>
          </a:prstGeom>
          <a:solidFill>
            <a:srgbClr val="FFA726"/>
          </a:solidFill>
          <a:ln w="12700">
            <a:solidFill>
              <a:srgbClr val="FFA72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3017520"/>
            <a:ext cx="106070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cancelOrder_whenOrderIsAlreadyCancelled_throwsIllegalStateException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cancelOrder_whenPaymentRefundFails_rollsBackOrderStatus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calculateRefund_whenAllItemsAreNonRefundable_returnsZero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5074920"/>
            <a:ext cx="11064240" cy="1143000"/>
          </a:xfrm>
          <a:prstGeom prst="roundRect">
            <a:avLst>
              <a:gd name="adj" fmla="val 6400"/>
            </a:avLst>
          </a:prstGeom>
          <a:solidFill>
            <a:srgbClr val="FFE0B2"/>
          </a:solidFill>
          <a:ln w="12700">
            <a:solidFill>
              <a:srgbClr val="FFA72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521208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8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22960" y="544068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concrete examples beat any amount of style description. Highest-leverage technique for format consistency.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0" y="6537960"/>
            <a:ext cx="12161520" cy="36576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65653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Prompt to Template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789920" y="65653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68680" cy="868680"/>
          </a:xfrm>
          <a:prstGeom prst="ellipse">
            <a:avLst/>
          </a:prstGeom>
          <a:solidFill>
            <a:srgbClr val="FFA726"/>
          </a:solidFill>
          <a:ln w="12700">
            <a:solidFill>
              <a:srgbClr val="FFA7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50292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1691640" y="5486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691640" y="8229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8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Chain-of-Thought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691640" y="14173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the AI reason out loud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21945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TEMPLATE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24231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A7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THINK STEP BY STEP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2880360"/>
            <a:ext cx="11064240" cy="1920240"/>
          </a:xfrm>
          <a:prstGeom prst="rect">
            <a:avLst/>
          </a:prstGeom>
          <a:solidFill>
            <a:srgbClr val="FAFA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2880360"/>
            <a:ext cx="73152" cy="1920240"/>
          </a:xfrm>
          <a:prstGeom prst="rect">
            <a:avLst/>
          </a:prstGeom>
          <a:solidFill>
            <a:srgbClr val="FFA726"/>
          </a:solidFill>
          <a:ln w="12700">
            <a:solidFill>
              <a:srgbClr val="FFA72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3017520"/>
            <a:ext cx="106070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Before writing any code: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List every public method.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For each method, identify branches.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Group by happy path, edge case, error case.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 Only then start writing.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5074920"/>
            <a:ext cx="11064240" cy="1143000"/>
          </a:xfrm>
          <a:prstGeom prst="roundRect">
            <a:avLst>
              <a:gd name="adj" fmla="val 6400"/>
            </a:avLst>
          </a:prstGeom>
          <a:solidFill>
            <a:srgbClr val="FFE0B2"/>
          </a:solidFill>
          <a:ln w="12700">
            <a:solidFill>
              <a:srgbClr val="FFA72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521208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8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22960" y="544068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Forces systematic enumeration. Catches edge cases a junior dev would miss.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0" y="6537960"/>
            <a:ext cx="12161520" cy="36576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65653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Prompt to Template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789920" y="65653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19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68680" cy="868680"/>
          </a:xfrm>
          <a:prstGeom prst="ellipse">
            <a:avLst/>
          </a:prstGeom>
          <a:solidFill>
            <a:srgbClr val="3F51B5"/>
          </a:solidFill>
          <a:ln w="12700">
            <a:solidFill>
              <a:srgbClr val="3F51B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50292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1691640" y="5486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691640" y="8229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Format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691640" y="14173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the exact shape of the response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21945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TEMPLATE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24231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51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OUTPUT FORMAT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2880360"/>
            <a:ext cx="11064240" cy="1920240"/>
          </a:xfrm>
          <a:prstGeom prst="rect">
            <a:avLst/>
          </a:prstGeom>
          <a:solidFill>
            <a:srgbClr val="FAFA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2880360"/>
            <a:ext cx="73152" cy="1920240"/>
          </a:xfrm>
          <a:prstGeom prst="rect">
            <a:avLst/>
          </a:prstGeom>
          <a:solidFill>
            <a:srgbClr val="3F51B5"/>
          </a:solidFill>
          <a:ln w="12700">
            <a:solidFill>
              <a:srgbClr val="3F51B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3017520"/>
            <a:ext cx="106070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Produce in this order: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A coverage plan (bullets)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The complete test file (one code block)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A short justification (3-5 sentences)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5074920"/>
            <a:ext cx="11064240" cy="1143000"/>
          </a:xfrm>
          <a:prstGeom prst="roundRect">
            <a:avLst>
              <a:gd name="adj" fmla="val 6400"/>
            </a:avLst>
          </a:prstGeom>
          <a:solidFill>
            <a:srgbClr val="E8EAF6"/>
          </a:solidFill>
          <a:ln w="12700">
            <a:solidFill>
              <a:srgbClr val="3F51B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521208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22960" y="544068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Predictable output makes the template part of a workflow. Inconsistent output breaks automation.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0" y="6537960"/>
            <a:ext cx="12161520" cy="36576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65653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Prompt to Template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789920" y="65653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19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68680" cy="868680"/>
          </a:xfrm>
          <a:prstGeom prst="ellipse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50292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1691640" y="5486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691640" y="8229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Clarifying Questions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691640" y="14173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AI ask, not assume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21945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TEMPLATE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24231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53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CLARIFYING QUESTIONS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2880360"/>
            <a:ext cx="11064240" cy="1920240"/>
          </a:xfrm>
          <a:prstGeom prst="rect">
            <a:avLst/>
          </a:prstGeom>
          <a:solidFill>
            <a:srgbClr val="FAFA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2880360"/>
            <a:ext cx="73152" cy="1920240"/>
          </a:xfrm>
          <a:prstGeom prst="rect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3017520"/>
            <a:ext cx="106070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anything is unclear, ask 1-3 questions BEFORE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producing output. If a real trade-off exists,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present 2 options with brief pros/cons and let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 pick before writing.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5074920"/>
            <a:ext cx="11064240" cy="1143000"/>
          </a:xfrm>
          <a:prstGeom prst="roundRect">
            <a:avLst>
              <a:gd name="adj" fmla="val 6400"/>
            </a:avLst>
          </a:prstGeom>
          <a:solidFill>
            <a:srgbClr val="FFCDD2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521208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22960" y="544068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prompt failures are silent guesses. This block flips one-shot generation into dialogue.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8412480" y="566928"/>
            <a:ext cx="3200400" cy="411480"/>
          </a:xfrm>
          <a:prstGeom prst="roundRect">
            <a:avLst>
              <a:gd name="adj" fmla="val 11111"/>
            </a:avLst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12480" y="566928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KEY DIFFERENTIATOR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0" y="6537960"/>
            <a:ext cx="12161520" cy="36576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65653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Prompt to Template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789920" y="65653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19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composition is the point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731520" cy="54864"/>
          </a:xfrm>
          <a:prstGeom prst="rect">
            <a:avLst/>
          </a:prstGeom>
          <a:solidFill>
            <a:srgbClr val="26A69A"/>
          </a:solidFill>
          <a:ln w="12700">
            <a:solidFill>
              <a:srgbClr val="26A6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4630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each technique, the output would…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2606040" cy="640080"/>
          </a:xfrm>
          <a:prstGeom prst="rect">
            <a:avLst/>
          </a:prstGeom>
          <a:solidFill>
            <a:srgbClr val="3F51B5"/>
          </a:solidFill>
          <a:ln w="12700">
            <a:solidFill>
              <a:srgbClr val="3F51B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240280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48640" y="242316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role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834640"/>
            <a:ext cx="2606040" cy="1463040"/>
          </a:xfrm>
          <a:prstGeom prst="rect">
            <a:avLst/>
          </a:prstGeom>
          <a:solidFill>
            <a:srgbClr val="FAFA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9718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the output would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85800" y="333756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like a tutorial,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production code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383280" y="2194560"/>
            <a:ext cx="2606040" cy="640080"/>
          </a:xfrm>
          <a:prstGeom prst="rect">
            <a:avLst/>
          </a:prstGeom>
          <a:solidFill>
            <a:srgbClr val="26A69A"/>
          </a:solidFill>
          <a:ln w="12700">
            <a:solidFill>
              <a:srgbClr val="26A69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83280" y="2240280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383280" y="242316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constraints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383280" y="2834640"/>
            <a:ext cx="2606040" cy="1463040"/>
          </a:xfrm>
          <a:prstGeom prst="rect">
            <a:avLst/>
          </a:prstGeom>
          <a:solidFill>
            <a:srgbClr val="FAFA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20440" y="29718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the output would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520440" y="333756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forbidden libraries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refactor unprompted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217920" y="2194560"/>
            <a:ext cx="2606040" cy="640080"/>
          </a:xfrm>
          <a:prstGeom prst="rect">
            <a:avLst/>
          </a:prstGeom>
          <a:solidFill>
            <a:srgbClr val="FFA726"/>
          </a:solidFill>
          <a:ln w="12700">
            <a:solidFill>
              <a:srgbClr val="FFA72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0" y="2240280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6217920" y="242316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examples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217920" y="2834640"/>
            <a:ext cx="2606040" cy="1463040"/>
          </a:xfrm>
          <a:prstGeom prst="rect">
            <a:avLst/>
          </a:prstGeom>
          <a:solidFill>
            <a:srgbClr val="FAFA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55080" y="29718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the output would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355080" y="333756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inconsistent test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naming styles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9052560" y="2194560"/>
            <a:ext cx="2606040" cy="640080"/>
          </a:xfrm>
          <a:prstGeom prst="rect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052560" y="2240280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9052560" y="242316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clarifying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9052560" y="2834640"/>
            <a:ext cx="2606040" cy="1463040"/>
          </a:xfrm>
          <a:prstGeom prst="rect">
            <a:avLst/>
          </a:prstGeom>
          <a:solidFill>
            <a:srgbClr val="FAFA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89720" y="29718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the output would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9189720" y="333756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silently guess at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ambiguous inputs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48640" y="4937760"/>
            <a:ext cx="11064240" cy="1280160"/>
          </a:xfrm>
          <a:prstGeom prst="roundRect">
            <a:avLst>
              <a:gd name="adj" fmla="val 7143"/>
            </a:avLst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50749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techniques in one template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548640" y="55321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 a category change in output quality</a:t>
            </a:r>
            <a:endParaRPr lang="en-US" sz="2400" dirty="0"/>
          </a:p>
        </p:txBody>
      </p:sp>
      <p:sp>
        <p:nvSpPr>
          <p:cNvPr id="32" name="Shape 30"/>
          <p:cNvSpPr/>
          <p:nvPr/>
        </p:nvSpPr>
        <p:spPr>
          <a:xfrm>
            <a:off x="0" y="6537960"/>
            <a:ext cx="12161520" cy="36576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8640" y="65653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Prompt to Template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0789920" y="65653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19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looks like in practice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731520" cy="54864"/>
          </a:xfrm>
          <a:prstGeom prst="rect">
            <a:avLst/>
          </a:prstGeom>
          <a:solidFill>
            <a:srgbClr val="26A69A"/>
          </a:solidFill>
          <a:ln w="12700">
            <a:solidFill>
              <a:srgbClr val="26A6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41732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typical Monday: a Jira ticket asking for unit tests on OrderService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143000" y="2788920"/>
            <a:ext cx="9921240" cy="36576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87552" y="2514600"/>
            <a:ext cx="594360" cy="594360"/>
          </a:xfrm>
          <a:prstGeom prst="ellipse">
            <a:avLst/>
          </a:prstGeom>
          <a:solidFill>
            <a:srgbClr val="3F51B5"/>
          </a:solidFill>
          <a:ln w="12700">
            <a:solidFill>
              <a:srgbClr val="3F51B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7552" y="25146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74320" y="324612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template +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#file reference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74320" y="40233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3F5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min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0" y="2514600"/>
            <a:ext cx="594360" cy="594360"/>
          </a:xfrm>
          <a:prstGeom prst="ellipse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0" y="25146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487168" y="324612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asks 2 clarifying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487168" y="40233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EF5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min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13248" y="2514600"/>
            <a:ext cx="594360" cy="594360"/>
          </a:xfrm>
          <a:prstGeom prst="ellipse">
            <a:avLst/>
          </a:prstGeom>
          <a:solidFill>
            <a:srgbClr val="26A69A"/>
          </a:solidFill>
          <a:ln w="12700">
            <a:solidFill>
              <a:srgbClr val="26A69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13248" y="25146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700016" y="324612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presents the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plan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00016" y="40233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26A6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sec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626096" y="2514600"/>
            <a:ext cx="594360" cy="594360"/>
          </a:xfrm>
          <a:prstGeom prst="ellipse">
            <a:avLst/>
          </a:prstGeom>
          <a:solidFill>
            <a:srgbClr val="FFA726"/>
          </a:solidFill>
          <a:ln w="12700">
            <a:solidFill>
              <a:srgbClr val="FFA72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626096" y="25146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912864" y="324612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generates the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file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912864" y="40233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FFA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min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838944" y="2514600"/>
            <a:ext cx="594360" cy="594360"/>
          </a:xfrm>
          <a:prstGeom prst="ellipse">
            <a:avLst/>
          </a:prstGeom>
          <a:solidFill>
            <a:srgbClr val="3F51B5"/>
          </a:solidFill>
          <a:ln w="12700">
            <a:solidFill>
              <a:srgbClr val="3F51B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838944" y="25146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9125712" y="324612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Review, tweak,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125712" y="40233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3F5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min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48640" y="5029200"/>
            <a:ext cx="11064240" cy="1188720"/>
          </a:xfrm>
          <a:prstGeom prst="roundRect">
            <a:avLst>
              <a:gd name="adj" fmla="val 7692"/>
            </a:avLst>
          </a:prstGeom>
          <a:solidFill>
            <a:srgbClr val="FFE0B2"/>
          </a:solidFill>
          <a:ln w="12700">
            <a:solidFill>
              <a:srgbClr val="FFA72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68680" y="51663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8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68680" y="544068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8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 min</a:t>
            </a:r>
            <a:pPr indent="0" marL="0">
              <a:buNone/>
            </a:pP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for a comprehensive test file</a:t>
            </a:r>
            <a:endParaRPr lang="en-US" sz="2800" dirty="0"/>
          </a:p>
        </p:txBody>
      </p:sp>
      <p:sp>
        <p:nvSpPr>
          <p:cNvPr id="29" name="Text 27"/>
          <p:cNvSpPr/>
          <p:nvPr/>
        </p:nvSpPr>
        <p:spPr>
          <a:xfrm>
            <a:off x="868680" y="58978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hand: ~60 min.   With template: ~8 min.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0" y="6537960"/>
            <a:ext cx="12161520" cy="36576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8640" y="65653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Prompt to Template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789920" y="65653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19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make this stick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731520" cy="54864"/>
          </a:xfrm>
          <a:prstGeom prst="rect">
            <a:avLst/>
          </a:prstGeom>
          <a:solidFill>
            <a:srgbClr val="26A69A"/>
          </a:solidFill>
          <a:ln w="12700">
            <a:solidFill>
              <a:srgbClr val="26A69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691640"/>
            <a:ext cx="640080" cy="640080"/>
          </a:xfrm>
          <a:prstGeom prst="ellipse">
            <a:avLst/>
          </a:prstGeom>
          <a:solidFill>
            <a:srgbClr val="26A69A"/>
          </a:solidFill>
          <a:ln w="12700">
            <a:solidFill>
              <a:srgbClr val="26A69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417320" y="16459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it where Copilot finds it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417320" y="198424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03F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.github/prompts/generate-tests.prompt.md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560320"/>
            <a:ext cx="640080" cy="640080"/>
          </a:xfrm>
          <a:prstGeom prst="ellipse">
            <a:avLst/>
          </a:prstGeom>
          <a:solidFill>
            <a:srgbClr val="26A69A"/>
          </a:solidFill>
          <a:ln w="12700">
            <a:solidFill>
              <a:srgbClr val="26A69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560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417320" y="25146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it on a real class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417320" y="285292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into Copilot Chat with #file:OrderService.java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429000"/>
            <a:ext cx="640080" cy="640080"/>
          </a:xfrm>
          <a:prstGeom prst="ellipse">
            <a:avLst/>
          </a:prstGeom>
          <a:solidFill>
            <a:srgbClr val="26A69A"/>
          </a:solidFill>
          <a:ln w="12700">
            <a:solidFill>
              <a:srgbClr val="26A69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429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417320" y="33832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Iterate based on what AI asks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417320" y="372160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clarifying questions surface weak spots — strengthen the template.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297680"/>
            <a:ext cx="640080" cy="640080"/>
          </a:xfrm>
          <a:prstGeom prst="ellipse">
            <a:avLst/>
          </a:prstGeom>
          <a:solidFill>
            <a:srgbClr val="26A69A"/>
          </a:solidFill>
          <a:ln w="12700">
            <a:solidFill>
              <a:srgbClr val="26A69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4297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417320" y="42519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 as a team standard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417320" y="459028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3 successful uses, commit + share. Now everyone benefits.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534924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5F6FD"/>
          </a:solidFill>
          <a:ln w="12700">
            <a:solidFill>
              <a:srgbClr val="3F51B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53492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for our top 5 repetitive tasks. That's the win.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0" y="6537960"/>
            <a:ext cx="12161520" cy="36576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65653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Prompt to Template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789920" y="65653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19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just one template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731520" cy="54864"/>
          </a:xfrm>
          <a:prstGeom prst="rect">
            <a:avLst/>
          </a:prstGeom>
          <a:solidFill>
            <a:srgbClr val="26A69A"/>
          </a:solidFill>
          <a:ln w="12700">
            <a:solidFill>
              <a:srgbClr val="26A6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3716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There's a bigger pattern behind it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11064240" cy="1097280"/>
          </a:xfrm>
          <a:prstGeom prst="rect">
            <a:avLst/>
          </a:prstGeom>
          <a:solidFill>
            <a:srgbClr val="E8EAF6"/>
          </a:solidFill>
          <a:ln w="12700">
            <a:solidFill>
              <a:srgbClr val="3F51B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2286000"/>
            <a:ext cx="548640" cy="548640"/>
          </a:xfrm>
          <a:prstGeom prst="ellipse">
            <a:avLst/>
          </a:prstGeom>
          <a:solidFill>
            <a:srgbClr val="3F51B5"/>
          </a:solidFill>
          <a:ln w="12700">
            <a:solidFill>
              <a:srgbClr val="3F51B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286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554480" y="21945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META-PROMPT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554480" y="24231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it once. With AI's help.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554480" y="2788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markdown file you keep in your repo. Turns any AI chat into a 'prompt engineer for you.'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309067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48640" y="3246120"/>
            <a:ext cx="11064240" cy="1097280"/>
          </a:xfrm>
          <a:prstGeom prst="rect">
            <a:avLst/>
          </a:prstGeom>
          <a:solidFill>
            <a:srgbClr val="B2DFDB"/>
          </a:solidFill>
          <a:ln w="12700">
            <a:solidFill>
              <a:srgbClr val="26A69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7240" y="3520440"/>
            <a:ext cx="548640" cy="548640"/>
          </a:xfrm>
          <a:prstGeom prst="ellipse">
            <a:avLst/>
          </a:prstGeom>
          <a:solidFill>
            <a:srgbClr val="26A69A"/>
          </a:solidFill>
          <a:ln w="12700">
            <a:solidFill>
              <a:srgbClr val="26A69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3520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554480" y="34290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7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554480" y="3657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on demand.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554480" y="40233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meta-prompt to produce templates like today's — tailored to specific tasks.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14400" y="432511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548640" y="4480560"/>
            <a:ext cx="11064240" cy="1097280"/>
          </a:xfrm>
          <a:prstGeom prst="rect">
            <a:avLst/>
          </a:prstGeom>
          <a:solidFill>
            <a:srgbClr val="FFE0B2"/>
          </a:solidFill>
          <a:ln w="12700">
            <a:solidFill>
              <a:srgbClr val="FFA72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4754880"/>
            <a:ext cx="548640" cy="548640"/>
          </a:xfrm>
          <a:prstGeom prst="ellipse">
            <a:avLst/>
          </a:prstGeom>
          <a:solidFill>
            <a:srgbClr val="FFA726"/>
          </a:solidFill>
          <a:ln w="12700">
            <a:solidFill>
              <a:srgbClr val="FFA72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4754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554480" y="4663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8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554480" y="48920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Produced consistently. At quality.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1554480" y="52578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Tests. Code. Docs. Reviews. Whatever you need — every time, the same shape.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meta-prompt once. It generates templates on demand. Templates produce consistent work.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0" y="6537960"/>
            <a:ext cx="12161520" cy="36576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65653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Prompt to Template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789920" y="65653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19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A23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26A6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Takeaways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73152" cy="1280160"/>
          </a:xfrm>
          <a:prstGeom prst="rect">
            <a:avLst/>
          </a:prstGeom>
          <a:solidFill>
            <a:srgbClr val="26A69A"/>
          </a:solidFill>
          <a:ln w="12700">
            <a:solidFill>
              <a:srgbClr val="26A6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164592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is composition, </a:t>
            </a:r>
            <a:pPr indent="0" marL="0">
              <a:buNone/>
            </a:pPr>
            <a:r>
              <a:rPr lang="en-US" sz="2200" b="1" dirty="0">
                <a:solidFill>
                  <a:srgbClr val="26A6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magic words.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68680" y="219456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known techniques layered into one template — that's the whole trick.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3108960"/>
            <a:ext cx="73152" cy="1280160"/>
          </a:xfrm>
          <a:prstGeom prst="rect">
            <a:avLst/>
          </a:prstGeom>
          <a:solidFill>
            <a:srgbClr val="FFA726"/>
          </a:solidFill>
          <a:ln w="12700">
            <a:solidFill>
              <a:srgbClr val="FFA7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320040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good template is a one-time investment </a:t>
            </a:r>
            <a:pPr indent="0" marL="0">
              <a:buNone/>
            </a:pPr>
            <a:r>
              <a:rPr lang="en-US" sz="2200" b="1" dirty="0">
                <a:solidFill>
                  <a:srgbClr val="FFA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pays off every time anyone uses it.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68680" y="374904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once. Used by the whole team. Multiplies across every repetition.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4663440"/>
            <a:ext cx="73152" cy="1280160"/>
          </a:xfrm>
          <a:prstGeom prst="rect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475488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Bidirectional interaction </a:t>
            </a:r>
            <a:pPr indent="0" marL="0">
              <a:buNone/>
            </a:pPr>
            <a:r>
              <a:rPr lang="en-US" sz="2200" b="1" dirty="0">
                <a:solidFill>
                  <a:srgbClr val="EF5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upgrade most teams skip.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68680" y="530352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AI to ask before it assumes. The conversation becomes a collaboration.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0" y="6537960"/>
            <a:ext cx="12161520" cy="36576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65653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Prompt to Template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789920" y="65653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19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377440"/>
            <a:ext cx="11064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8000" dirty="0"/>
          </a:p>
        </p:txBody>
      </p:sp>
      <p:sp>
        <p:nvSpPr>
          <p:cNvPr id="3" name="Shape 1"/>
          <p:cNvSpPr/>
          <p:nvPr/>
        </p:nvSpPr>
        <p:spPr>
          <a:xfrm>
            <a:off x="5486400" y="4023360"/>
            <a:ext cx="1188720" cy="73152"/>
          </a:xfrm>
          <a:prstGeom prst="rect">
            <a:avLst/>
          </a:prstGeom>
          <a:solidFill>
            <a:srgbClr val="26A69A"/>
          </a:solidFill>
          <a:ln w="12700">
            <a:solidFill>
              <a:srgbClr val="26A6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6634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007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50292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template:  </a:t>
            </a:r>
            <a:pPr algn="ctr" indent="0" marL="0">
              <a:buNone/>
            </a:pPr>
            <a:r>
              <a:rPr lang="en-US" sz="1400" b="1" dirty="0">
                <a:solidFill>
                  <a:srgbClr val="303F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example-template-talk.md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54406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guide:  </a:t>
            </a:r>
            <a:pPr algn="ctr" indent="0" marL="0">
              <a:buNone/>
            </a:pPr>
            <a:r>
              <a:rPr lang="en-US" sz="1400" b="1" dirty="0">
                <a:solidFill>
                  <a:srgbClr val="303F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prompt-engineering-guide.pdf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From Prompt to Template</dc:title>
  <dc:subject>Prompt Engineering Techniques in Action</dc:subject>
  <dc:creator>Gustavo Andres</dc:creator>
  <cp:lastModifiedBy>Gustavo Andres</cp:lastModifiedBy>
  <cp:revision>1</cp:revision>
  <dcterms:created xsi:type="dcterms:W3CDTF">2026-04-23T00:30:39Z</dcterms:created>
  <dcterms:modified xsi:type="dcterms:W3CDTF">2026-04-23T00:30:39Z</dcterms:modified>
</cp:coreProperties>
</file>